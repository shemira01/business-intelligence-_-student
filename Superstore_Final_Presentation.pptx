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46" y="-101"/>
      </p:cViewPr>
      <p:guideLst>
        <p:guide orient="horz" pos="216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6E507B-7306-4BDF-847F-110D4167589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46FBD2-4FDA-4244-80DA-5797EF46C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337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46FBD2-4FDA-4244-80DA-5797EF46C75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302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Superstore Profitability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F172A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Problem: Despite strong sales, Superstore faces declining profitability in key areas.</a:t>
            </a:r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Drivers of Loss: 1) Furniture Category, 2) Excessive Discounts, 3) Central Region Operations.</a:t>
            </a:r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Opportunity: Recover over $70,000 in annual profit by eliminating negative-margin transactions.</a:t>
            </a:r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Framework: We applied the EPIC framework to analyzing 9,994 transactions.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F172A"/>
                </a:solidFill>
              </a:defRPr>
            </a:pPr>
            <a:r>
              <a:t>Methodology &amp;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Data Source: Superstore Sales Dataset (Cleaned &amp; Processed).</a:t>
            </a:r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Preprocessing: Removed duplicates, converted timestamps, engineered 'Delivery Days'.</a:t>
            </a:r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Tools: Python (Pandas for ETL, Seaborn for Visualization).</a:t>
            </a:r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Analysis Scope: Product profitability, Regional performance, and Discount impact.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F172A"/>
                </a:solidFill>
              </a:defRPr>
            </a:pPr>
            <a:r>
              <a:t>The 'Furniture' Problem</a:t>
            </a:r>
          </a:p>
        </p:txBody>
      </p:sp>
      <p:pic>
        <p:nvPicPr>
          <p:cNvPr id="3" name="Picture 2" descr="Chart_3_Sub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620" y="1653540"/>
            <a:ext cx="4442691" cy="3708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Insight: Tables are the single worst-performing sub-category.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Financial Impact: Tables generate a total loss of approx -$17,000.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Root Cause: High shipping costs for heavy items combined with deep discounts make this category unsustainable.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F172A"/>
                </a:solidFill>
              </a:defRPr>
            </a:pPr>
            <a:r>
              <a:t>The 20% Discount Trap</a:t>
            </a:r>
          </a:p>
        </p:txBody>
      </p:sp>
      <p:pic>
        <p:nvPicPr>
          <p:cNvPr id="3" name="Picture 2" descr="Chart_5_Dis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236" y="1645920"/>
            <a:ext cx="4368800" cy="3369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6436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Insight: There is a clear profitability threshold at 20% discount.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Observation: Transactions with discounts &gt;20% consistently result in a loss.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Inefficiency: We are effectively paying customers to take our inventory in these scenarios.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F172A"/>
                </a:solidFill>
              </a:defRPr>
            </a:pPr>
            <a:r>
              <a:t>Regional Profit Drain</a:t>
            </a:r>
          </a:p>
        </p:txBody>
      </p:sp>
      <p:pic>
        <p:nvPicPr>
          <p:cNvPr id="3" name="Picture 2" descr="Chart_6_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45920"/>
            <a:ext cx="4387273" cy="34063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Insight: Texas is the primary driver of loss in the Central Region.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Financial Impact: Texas accounts for -$26,000 in net losses.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Context: High operational costs and aggressive promotions in Texas/Ohio are eroding gains from profitable states like California.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F172A"/>
                </a:solidFill>
              </a:defRPr>
            </a:pPr>
            <a:r>
              <a:t>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1. Discount Cap: Implement a hard 20% cap on discounts in the POS system.</a:t>
            </a:r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2. Fix Central Region: Pause marketing spend in Texas and renegotiate shipping contracts.</a:t>
            </a:r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3. Reprice Tables: Increase base price by 10% to cover logistics costs or discontinue specific SKUs.</a:t>
            </a:r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4. Focus Q4: Shift Q4 strategy from volume-chasing to margin-preservation.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5400">
                <a:solidFill>
                  <a:srgbClr val="FFFFFF"/>
                </a:solidFill>
              </a:defRPr>
            </a:pPr>
            <a:r>
              <a:t>Questions?</a:t>
            </a:r>
            <a:br/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327</Words>
  <Application>Microsoft Office PowerPoint</Application>
  <PresentationFormat>On-screen Show (4:3)</PresentationFormat>
  <Paragraphs>44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3</cp:revision>
  <dcterms:created xsi:type="dcterms:W3CDTF">2013-01-27T09:14:16Z</dcterms:created>
  <dcterms:modified xsi:type="dcterms:W3CDTF">2025-11-24T11:44:12Z</dcterms:modified>
  <cp:category/>
</cp:coreProperties>
</file>